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8" r:id="rId6"/>
    <p:sldId id="267" r:id="rId7"/>
    <p:sldId id="262" r:id="rId8"/>
    <p:sldId id="264" r:id="rId9"/>
    <p:sldId id="266" r:id="rId10"/>
    <p:sldId id="257" r:id="rId11"/>
    <p:sldId id="283" r:id="rId12"/>
    <p:sldId id="261" r:id="rId13"/>
    <p:sldId id="284" r:id="rId14"/>
    <p:sldId id="260" r:id="rId15"/>
    <p:sldId id="269" r:id="rId16"/>
    <p:sldId id="268" r:id="rId17"/>
    <p:sldId id="285" r:id="rId1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9516"/>
    <a:srgbClr val="AF6001"/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8" autoAdjust="0"/>
    <p:restoredTop sz="94660"/>
  </p:normalViewPr>
  <p:slideViewPr>
    <p:cSldViewPr snapToGrid="0">
      <p:cViewPr varScale="1">
        <p:scale>
          <a:sx n="85" d="100"/>
          <a:sy n="85" d="100"/>
        </p:scale>
        <p:origin x="193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86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 запросов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ltUpDiag">
                <a:fgClr>
                  <a:schemeClr val="accent1">
                    <a:lumMod val="50000"/>
                  </a:schemeClr>
                </a:fgClr>
                <a:bgClr>
                  <a:schemeClr val="accent6"/>
                </a:bgClr>
              </a:pattFill>
              <a:ln w="12700"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EA3-42BD-B1B8-9E368E64ABCB}"/>
              </c:ext>
            </c:extLst>
          </c:dPt>
          <c:cat>
            <c:strRef>
              <c:f>Sheet1!$A$2:$A$3</c:f>
              <c:strCache>
                <c:ptCount val="2"/>
                <c:pt idx="0">
                  <c:v>Без группировки</c:v>
                </c:pt>
                <c:pt idx="1">
                  <c:v>С группировкой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A3-42BD-B1B8-9E368E64A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"/>
        <c:axId val="1000041416"/>
        <c:axId val="1000041744"/>
      </c:barChart>
      <c:catAx>
        <c:axId val="10000414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0041744"/>
        <c:crosses val="autoZero"/>
        <c:auto val="1"/>
        <c:lblAlgn val="ctr"/>
        <c:lblOffset val="100"/>
        <c:noMultiLvlLbl val="0"/>
      </c:catAx>
      <c:valAx>
        <c:axId val="1000041744"/>
        <c:scaling>
          <c:orientation val="minMax"/>
          <c:max val="6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0041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+mn-lt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5C963BE-E818-41F7-9555-4F4B742E98AE}" type="datetime1">
              <a:rPr lang="ru-RU" smtClean="0"/>
              <a:t>30.11.2025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31430A-4AA4-45C8-AC23-CD6B61C41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735222-6EEA-46CD-B936-E9E9D4B85411}" type="datetime1">
              <a:rPr lang="ru-RU" noProof="0" smtClean="0"/>
              <a:t>30.11.2025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4D747-9380-41EE-9946-EC9EC0CA5D1E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9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578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690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59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271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706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1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446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121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461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96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186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83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573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Полилиния: фигура 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6" name="Полилиния: фигура 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7" name="Прямоугольный треугольник 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8" name="Прямоугольный треугольник 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9" name="Прямоугольный треугольник 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</p:grpSp>
        <p:sp>
          <p:nvSpPr>
            <p:cNvPr id="9" name="Полилиния: Фигура 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0" name="Полилиния: Фигура 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11" name="Полилиния: Фигура 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Полилиния: Фигура 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4" name="Полилиния: Фигура 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 smtClean="0"/>
              <a:t>Образец подзаголовка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Полилиния: Фигура 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рямоугольный треугольник 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4" name="Полилиния: Фигура 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8" name="Полилиния: Фигура 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1" name="Полилиния: Фигура 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 smtClean="0"/>
              <a:t>Образец текста</a:t>
            </a:r>
          </a:p>
        </p:txBody>
      </p:sp>
      <p:sp>
        <p:nvSpPr>
          <p:cNvPr id="22" name="Номер слайда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Заголовок раздела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Дополнительный 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Полилиния: Фигура 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8" name="Полилиния: Фигура 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29" name="Полилиния: Фигура 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0" name="Полилиния: Фигура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Полилиния: Фигура 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3" name="Полилиния: Фигура 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Заголовок раздела 01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 smtClean="0"/>
              <a:t>Образец текста</a:t>
            </a:r>
          </a:p>
        </p:txBody>
      </p:sp>
      <p:sp>
        <p:nvSpPr>
          <p:cNvPr id="35" name="Номер слайда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цита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ru-RU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"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Цитата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3" name="Текст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6" name="Текст 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7" name="Объект 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28" name="Объект 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типа содержимого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 rtlCol="0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21" name="Объект 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тегория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0" name="Рисунок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1" name="Рисунок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2" name="Рисунок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3" name="Рисунок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4" name="Рисунок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7" name="Текст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8" name="Текст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30" name="Текст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и раздел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ru-RU" noProof="0"/>
              <a:t>Вставка изображения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я и текс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ru-RU" noProof="0"/>
              <a:t>Вставка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Полилиния: фигура 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1" name="Полилиния: фигура 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2" name="Полилиния: Фигура 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Полилиния: Фигура 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6" name="Полилиния: Фигура 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0" name="Полилиния: Фигура 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1" name="Номер слайда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Прямоугольный треугольник 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8" name="Прямоугольный треугольник 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9" name="Прямоугольный треугольник 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Спасибо!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2" name="Полилиния: Фигура 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0" name="Полилиния: Фигура 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7" name="Полилиния: Фигура 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9" name="Полилиния: фигура 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>
                <a:latin typeface="+mj-lt"/>
              </a:rPr>
              <a:t>Образец заголовка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Полилиния: Фигура 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4" name="Полилиния: Фигура 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Прямоугольник: Усеченный угол 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17" name="Прямоугольник: Усеченный угол 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8" name="Полилиния: Фигура 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4" r:id="rId7"/>
    <p:sldLayoutId id="2147483665" r:id="rId8"/>
    <p:sldLayoutId id="2147483673" r:id="rId9"/>
    <p:sldLayoutId id="2147483662" r:id="rId10"/>
    <p:sldLayoutId id="2147483663" r:id="rId11"/>
    <p:sldLayoutId id="2147483664" r:id="rId12"/>
    <p:sldLayoutId id="2147483675" r:id="rId13"/>
    <p:sldLayoutId id="2147483676" r:id="rId14"/>
    <p:sldLayoutId id="2147483672" r:id="rId15"/>
    <p:sldLayoutId id="2147483667" r:id="rId16"/>
    <p:sldLayoutId id="214748366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sv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ru-ru/article/%D0%A0%D0%B5%D0%B4%D0%B0%D0%BA%D1%82%D0%B8%D1%80%D0%BE%D0%B2%D0%B0%D0%BD%D0%B8%D0%B5-%D0%BF%D1%80%D0%B5%D0%B7%D0%B5%D0%BD%D1%82%D0%B0%D1%86%D0%B8%D0%B8-ff353d37-742a-4aa8-8bdd-6b1f488127a2?omkt=ru-RU&amp;ui=ru-RU&amp;rs=ru-RU&amp;ad=RU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1621536"/>
            <a:ext cx="9369552" cy="2776292"/>
          </a:xfrm>
        </p:spPr>
        <p:txBody>
          <a:bodyPr rtlCol="0"/>
          <a:lstStyle/>
          <a:p>
            <a:r>
              <a:rPr lang="ru-RU" sz="4400" dirty="0"/>
              <a:t>Разработка модуля обработки групповых запросов </a:t>
            </a:r>
            <a:r>
              <a:rPr lang="en-US" sz="4400" dirty="0"/>
              <a:t>Modbus </a:t>
            </a:r>
            <a:r>
              <a:rPr lang="ru-RU" sz="4400" dirty="0"/>
              <a:t>в среде </a:t>
            </a:r>
            <a:r>
              <a:rPr lang="en-US" sz="4400" dirty="0"/>
              <a:t>Owen Logic</a:t>
            </a:r>
            <a:r>
              <a:rPr lang="ru-RU" sz="3600" dirty="0"/>
              <a:t/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4687824"/>
            <a:ext cx="9369552" cy="1105987"/>
          </a:xfrm>
        </p:spPr>
        <p:txBody>
          <a:bodyPr rtlCol="0">
            <a:noAutofit/>
          </a:bodyPr>
          <a:lstStyle/>
          <a:p>
            <a:r>
              <a:rPr lang="ru-RU" sz="1600" b="1" dirty="0"/>
              <a:t>Выполнил: студент группы Б22-В71: Ролдугин В.Д.</a:t>
            </a:r>
            <a:endParaRPr lang="ru-RU" sz="1600" dirty="0"/>
          </a:p>
          <a:p>
            <a:r>
              <a:rPr lang="ru-RU" sz="1600" b="1" dirty="0"/>
              <a:t>Руководитель работы: Новиков Г.Г., к.т.н., доцент НИЯУ МИФИ </a:t>
            </a:r>
            <a:endParaRPr lang="ru-RU" sz="1600" dirty="0"/>
          </a:p>
          <a:p>
            <a:r>
              <a:rPr lang="ru-RU" sz="1600" b="1" dirty="0"/>
              <a:t>Место выполнения: ООО «Овен Цифровые решения»</a:t>
            </a:r>
            <a:endParaRPr lang="ru-RU" sz="1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866605" y="235357"/>
            <a:ext cx="8046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defRPr>
                <a:uFill>
                  <a:solidFill>
                    <a:srgbClr val="000000"/>
                  </a:solidFill>
                </a:uFill>
              </a:defRPr>
            </a:pPr>
            <a:r>
              <a:rPr lang="ru-RU" sz="1600" cap="small" dirty="0">
                <a:solidFill>
                  <a:schemeClr val="bg1"/>
                </a:solidFill>
              </a:rPr>
              <a:t>НАЦИОНАЛЬНЫЙ ИССЛЕДОВАТЕЛЬСКИЙ ЯДЕРНЫЙ УНИВЕРСИТЕТ «МИФИ»</a:t>
            </a:r>
          </a:p>
          <a:p>
            <a:pPr algn="ctr" defTabSz="457200">
              <a:defRPr>
                <a:uFill>
                  <a:solidFill>
                    <a:srgbClr val="000000"/>
                  </a:solidFill>
                </a:uFill>
              </a:defRPr>
            </a:pPr>
            <a:r>
              <a:rPr lang="ru-RU" sz="1600" cap="small" dirty="0">
                <a:solidFill>
                  <a:schemeClr val="bg1"/>
                </a:solidFill>
              </a:rPr>
              <a:t>ИНСТИТУТ ИНТЕЛЛЕКТУАЛЬНЫХ КИБЕРНЕТИЧЕСКИХ СИСТЕМ</a:t>
            </a:r>
          </a:p>
          <a:p>
            <a:pPr algn="ctr" defTabSz="457200">
              <a:defRPr>
                <a:uFill>
                  <a:solidFill>
                    <a:srgbClr val="000000"/>
                  </a:solidFill>
                </a:uFill>
              </a:defRPr>
            </a:pPr>
            <a:r>
              <a:rPr lang="ru-RU" sz="1600" cap="small" dirty="0">
                <a:solidFill>
                  <a:schemeClr val="bg1"/>
                </a:solidFill>
              </a:rPr>
              <a:t>КАФЕДРА «КОМПЬЮТЕРНЫЕ СИСТЕМЫ И ТЕХНОЛОГИИ»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144073" y="6088161"/>
            <a:ext cx="19038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Москва, </a:t>
            </a:r>
            <a:r>
              <a:rPr lang="ru-RU" sz="2000" dirty="0" smtClean="0">
                <a:solidFill>
                  <a:schemeClr val="bg1"/>
                </a:solidFill>
              </a:rPr>
              <a:t>2025г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68" y="530733"/>
            <a:ext cx="11214100" cy="535531"/>
          </a:xfrm>
        </p:spPr>
        <p:txBody>
          <a:bodyPr rtlCol="0"/>
          <a:lstStyle/>
          <a:p>
            <a:r>
              <a:rPr lang="ru-RU" dirty="0"/>
              <a:t>Цели и задачи </a:t>
            </a:r>
            <a:r>
              <a:rPr lang="ru-RU" dirty="0" smtClean="0"/>
              <a:t>работы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0868" y="1613193"/>
            <a:ext cx="6974332" cy="1233639"/>
          </a:xfrm>
        </p:spPr>
        <p:txBody>
          <a:bodyPr rtlCol="0"/>
          <a:lstStyle/>
          <a:p>
            <a:pPr marL="0" indent="0">
              <a:buNone/>
            </a:pPr>
            <a:r>
              <a:rPr lang="ru-RU" dirty="0"/>
              <a:t>Цель работы — разработка модуля группового опроса </a:t>
            </a:r>
            <a:r>
              <a:rPr lang="ru-RU" dirty="0" err="1"/>
              <a:t>Modbus</a:t>
            </a:r>
            <a:r>
              <a:rPr lang="ru-RU" dirty="0"/>
              <a:t>-устройств для платформы КС1, обеспечивающего повышение производительности за счет оптимизации сетевых запросов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____________________________________________________</a:t>
            </a:r>
            <a:r>
              <a:rPr lang="ru-RU" dirty="0"/>
              <a:t>__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40868" y="3098030"/>
            <a:ext cx="9319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smtClean="0">
                <a:solidFill>
                  <a:schemeClr val="bg1"/>
                </a:solidFill>
              </a:rPr>
              <a:t>Задачи: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535906" y="3098030"/>
            <a:ext cx="630434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Изучение и анализ особенностей протоколов </a:t>
            </a:r>
            <a:r>
              <a:rPr lang="ru-RU" sz="1600" dirty="0" err="1">
                <a:solidFill>
                  <a:schemeClr val="bg1"/>
                </a:solidFill>
              </a:rPr>
              <a:t>Modbus</a:t>
            </a:r>
            <a:r>
              <a:rPr lang="ru-RU" sz="1600" dirty="0">
                <a:solidFill>
                  <a:schemeClr val="bg1"/>
                </a:solidFill>
              </a:rPr>
              <a:t> RTU/ASCII и их ограничений для групповой обработки </a:t>
            </a:r>
            <a:r>
              <a:rPr lang="ru-RU" sz="1600" dirty="0" smtClean="0">
                <a:solidFill>
                  <a:schemeClr val="bg1"/>
                </a:solidFill>
              </a:rPr>
              <a:t>запросов</a:t>
            </a:r>
          </a:p>
          <a:p>
            <a:pPr lvl="0"/>
            <a:endParaRPr lang="ru-RU" sz="1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Разработка и реализация алгоритмов группировки переменных с учетом требований среды </a:t>
            </a:r>
            <a:r>
              <a:rPr lang="ru-RU" sz="1600" dirty="0" err="1">
                <a:solidFill>
                  <a:schemeClr val="bg1"/>
                </a:solidFill>
              </a:rPr>
              <a:t>Owen</a:t>
            </a:r>
            <a:r>
              <a:rPr lang="ru-RU" sz="1600" dirty="0">
                <a:solidFill>
                  <a:schemeClr val="bg1"/>
                </a:solidFill>
              </a:rPr>
              <a:t> </a:t>
            </a:r>
            <a:r>
              <a:rPr lang="ru-RU" sz="1600" dirty="0" err="1" smtClean="0">
                <a:solidFill>
                  <a:schemeClr val="bg1"/>
                </a:solidFill>
              </a:rPr>
              <a:t>Logic</a:t>
            </a:r>
            <a:endParaRPr lang="ru-RU" sz="1600" dirty="0" smtClean="0">
              <a:solidFill>
                <a:schemeClr val="bg1"/>
              </a:solidFill>
            </a:endParaRPr>
          </a:p>
          <a:p>
            <a:pPr lvl="0"/>
            <a:endParaRPr lang="ru-RU" sz="16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Тестирование работы модуля на оборудовании серии ПР200 с проверкой корректности формирования групповых запросов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302" y="2723266"/>
            <a:ext cx="3956934" cy="39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3200400"/>
            <a:ext cx="6827521" cy="2859313"/>
          </a:xfrm>
        </p:spPr>
        <p:txBody>
          <a:bodyPr rtlCol="0">
            <a:normAutofit/>
          </a:bodyPr>
          <a:lstStyle/>
          <a:p>
            <a:r>
              <a:rPr lang="ru-RU" sz="4000" dirty="0"/>
              <a:t>Проблема неэффективного опроса </a:t>
            </a:r>
            <a:r>
              <a:rPr lang="ru-RU" sz="4000" dirty="0" smtClean="0"/>
              <a:t>устройств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/>
            </a:r>
            <a:br>
              <a:rPr lang="ru-RU" sz="2400" dirty="0"/>
            </a:br>
            <a:r>
              <a:rPr lang="ru-RU" sz="2000" dirty="0"/>
              <a:t>Последовательный опрос переменных приводит к значительным издержкам и ограничивает производительность системы КС1.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3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036" y="-1"/>
            <a:ext cx="4562964" cy="605971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Заголовок</a:t>
            </a:r>
          </a:p>
        </p:txBody>
      </p:sp>
      <p:pic>
        <p:nvPicPr>
          <p:cNvPr id="25" name="Рисунок 24" descr="Линейчатая диаграмма">
            <a:extLst>
              <a:ext uri="{FF2B5EF4-FFF2-40B4-BE49-F238E27FC236}">
                <a16:creationId xmlns:a16="http://schemas.microsoft.com/office/drawing/2014/main" id="{C03AAFA7-022A-47F8-9DA1-7DC3897D1E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t="63" b="63"/>
          <a:stretch>
            <a:fillRect/>
          </a:stretch>
        </p:blipFill>
        <p:spPr>
          <a:xfrm>
            <a:off x="978212" y="2096716"/>
            <a:ext cx="1259505" cy="1259505"/>
          </a:xfrm>
        </p:spPr>
      </p:pic>
      <p:sp>
        <p:nvSpPr>
          <p:cNvPr id="19" name="Текст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ru-RU"/>
              <a:t>Заголовок 01 отображается здесь</a:t>
            </a:r>
          </a:p>
        </p:txBody>
      </p:sp>
      <p:pic>
        <p:nvPicPr>
          <p:cNvPr id="27" name="Рисунок 26" descr="Часы">
            <a:extLst>
              <a:ext uri="{FF2B5EF4-FFF2-40B4-BE49-F238E27FC236}">
                <a16:creationId xmlns:a16="http://schemas.microsoft.com/office/drawing/2014/main" id="{6F737161-FE67-434D-A781-59EDB9EDCB2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Текст 19">
            <a:extLst>
              <a:ext uri="{FF2B5EF4-FFF2-40B4-BE49-F238E27FC236}">
                <a16:creationId xmlns:a16="http://schemas.microsoft.com/office/drawing/2014/main" id="{CB924A29-3538-4A3F-82A6-D2A7538C21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/>
          <a:p>
            <a:pPr rtl="0"/>
            <a:r>
              <a:rPr lang="ru-RU"/>
              <a:t>Заголовок 02 отображается здесь</a:t>
            </a:r>
          </a:p>
        </p:txBody>
      </p:sp>
      <p:pic>
        <p:nvPicPr>
          <p:cNvPr id="29" name="Рисунок 28" descr="Микроскоп">
            <a:extLst>
              <a:ext uri="{FF2B5EF4-FFF2-40B4-BE49-F238E27FC236}">
                <a16:creationId xmlns:a16="http://schemas.microsoft.com/office/drawing/2014/main" id="{9E5BF01B-21D6-4D43-9CAE-0298685C1A7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21" name="Текст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ru-RU" dirty="0"/>
              <a:t>Заголовок 03 отображается здесь</a:t>
            </a:r>
          </a:p>
        </p:txBody>
      </p:sp>
      <p:pic>
        <p:nvPicPr>
          <p:cNvPr id="31" name="Рисунок 30" descr="Увеличительное стекло">
            <a:extLst>
              <a:ext uri="{FF2B5EF4-FFF2-40B4-BE49-F238E27FC236}">
                <a16:creationId xmlns:a16="http://schemas.microsoft.com/office/drawing/2014/main" id="{089E8AB6-C16E-4752-810F-8F98DB929DB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/>
      </p:pic>
      <p:sp>
        <p:nvSpPr>
          <p:cNvPr id="22" name="Текст 21">
            <a:extLst>
              <a:ext uri="{FF2B5EF4-FFF2-40B4-BE49-F238E27FC236}">
                <a16:creationId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ru-RU"/>
              <a:t>Заголовок 04 отображается здесь</a:t>
            </a:r>
          </a:p>
        </p:txBody>
      </p:sp>
      <p:pic>
        <p:nvPicPr>
          <p:cNvPr id="33" name="Рисунок 32" descr="Голова с шестеренками">
            <a:extLst>
              <a:ext uri="{FF2B5EF4-FFF2-40B4-BE49-F238E27FC236}">
                <a16:creationId xmlns:a16="http://schemas.microsoft.com/office/drawing/2014/main" id="{CC9DBBE5-5AD0-41E8-A719-84509E5D9F9E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23" name="Текст 22">
            <a:extLst>
              <a:ext uri="{FF2B5EF4-FFF2-40B4-BE49-F238E27FC236}">
                <a16:creationId xmlns:a16="http://schemas.microsoft.com/office/drawing/2014/main" id="{8D05A34F-7712-46DB-AB5B-272E294B62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/>
          <a:lstStyle/>
          <a:p>
            <a:pPr rtl="0"/>
            <a:r>
              <a:rPr lang="ru-RU"/>
              <a:t>Заголовок 05 отображается здесь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4"/>
            <a:ext cx="4282349" cy="798195"/>
          </a:xfrm>
        </p:spPr>
        <p:txBody>
          <a:bodyPr rtlCol="0"/>
          <a:lstStyle/>
          <a:p>
            <a:r>
              <a:rPr lang="ru-RU" sz="2400" dirty="0"/>
              <a:t>Ключевые условия группировки запросов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0" y="1531474"/>
            <a:ext cx="3694684" cy="4576718"/>
          </a:xfrm>
        </p:spPr>
        <p:txBody>
          <a:bodyPr rtlCol="0"/>
          <a:lstStyle/>
          <a:p>
            <a:r>
              <a:rPr lang="ru-RU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🔢</a:t>
            </a:r>
            <a:r>
              <a:rPr lang="ru-RU" b="1" dirty="0"/>
              <a:t> Устройство</a:t>
            </a:r>
            <a:r>
              <a:rPr lang="ru-RU" dirty="0"/>
              <a:t> — только переменные одного </a:t>
            </a:r>
            <a:r>
              <a:rPr lang="ru-RU" dirty="0" err="1" smtClean="0"/>
              <a:t>Slave</a:t>
            </a:r>
            <a:endParaRPr lang="ru-RU" dirty="0" smtClean="0"/>
          </a:p>
          <a:p>
            <a:endParaRPr lang="ru-RU" dirty="0"/>
          </a:p>
          <a:p>
            <a:r>
              <a:rPr lang="ru-RU" b="1" dirty="0">
                <a:solidFill>
                  <a:srgbClr val="FE9516"/>
                </a:solidFill>
              </a:rPr>
              <a:t>📊</a:t>
            </a:r>
            <a:r>
              <a:rPr lang="ru-RU" b="1" dirty="0"/>
              <a:t> Тип данных</a:t>
            </a:r>
            <a:r>
              <a:rPr lang="ru-RU" dirty="0"/>
              <a:t> — одинаковый для всех переменных в </a:t>
            </a:r>
            <a:r>
              <a:rPr lang="ru-RU" dirty="0" smtClean="0"/>
              <a:t>группе</a:t>
            </a:r>
          </a:p>
          <a:p>
            <a:endParaRPr lang="ru-RU" dirty="0"/>
          </a:p>
          <a:p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🔗</a:t>
            </a:r>
            <a:r>
              <a:rPr lang="ru-RU" b="1" dirty="0" smtClean="0"/>
              <a:t> </a:t>
            </a:r>
            <a:r>
              <a:rPr lang="ru-RU" b="1" dirty="0"/>
              <a:t>Адреса</a:t>
            </a:r>
            <a:r>
              <a:rPr lang="ru-RU" dirty="0"/>
              <a:t> — последовательные без </a:t>
            </a:r>
            <a:r>
              <a:rPr lang="ru-RU" dirty="0" smtClean="0"/>
              <a:t>разрывов</a:t>
            </a:r>
          </a:p>
          <a:p>
            <a:endParaRPr lang="ru-RU" dirty="0"/>
          </a:p>
          <a:p>
            <a:r>
              <a:rPr lang="ru-RU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🔄</a:t>
            </a:r>
            <a:r>
              <a:rPr lang="ru-RU" b="1" dirty="0"/>
              <a:t> Функции</a:t>
            </a:r>
            <a:r>
              <a:rPr lang="ru-RU" dirty="0"/>
              <a:t> — одинаковые операции </a:t>
            </a:r>
            <a:r>
              <a:rPr lang="ru-RU" dirty="0" smtClean="0"/>
              <a:t>чтения/записи</a:t>
            </a:r>
          </a:p>
          <a:p>
            <a:endParaRPr lang="ru-RU" dirty="0"/>
          </a:p>
          <a:p>
            <a:r>
              <a:rPr lang="ru-RU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🕒</a:t>
            </a:r>
            <a:r>
              <a:rPr lang="ru-RU" b="1" dirty="0" smtClean="0"/>
              <a:t> </a:t>
            </a:r>
            <a:r>
              <a:rPr lang="ru-RU" b="1" dirty="0"/>
              <a:t>Условия</a:t>
            </a:r>
            <a:r>
              <a:rPr lang="ru-RU" dirty="0"/>
              <a:t> — совпадающие периоды или </a:t>
            </a:r>
            <a:r>
              <a:rPr lang="ru-RU" dirty="0" smtClean="0"/>
              <a:t>команды</a:t>
            </a:r>
          </a:p>
          <a:p>
            <a:endParaRPr lang="ru-RU" dirty="0"/>
          </a:p>
          <a:p>
            <a:r>
              <a:rPr lang="ru-RU" b="1" dirty="0" smtClean="0"/>
              <a:t>⚙️ Команды</a:t>
            </a:r>
            <a:r>
              <a:rPr lang="ru-RU" dirty="0"/>
              <a:t> — одна командная переменная на группу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5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081" y="-18288"/>
            <a:ext cx="7741920" cy="622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4813"/>
            <a:ext cx="4287521" cy="903148"/>
          </a:xfrm>
        </p:spPr>
        <p:txBody>
          <a:bodyPr rtlCol="0"/>
          <a:lstStyle/>
          <a:p>
            <a:r>
              <a:rPr lang="ru-RU" sz="2400" dirty="0"/>
              <a:t>Ограничения </a:t>
            </a:r>
            <a:r>
              <a:rPr lang="ru-RU" sz="2400" dirty="0" smtClean="0"/>
              <a:t>протоколов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 err="1" smtClean="0"/>
              <a:t>Modbus</a:t>
            </a:r>
            <a:r>
              <a:rPr lang="ru-RU" sz="2400" dirty="0" smtClean="0"/>
              <a:t> </a:t>
            </a:r>
            <a:r>
              <a:rPr lang="ru-RU" sz="2400" dirty="0"/>
              <a:t>RTU и ASCII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6" name="Таблица 5">
            <a:extLst>
              <a:ext uri="{FF2B5EF4-FFF2-40B4-BE49-F238E27FC236}">
                <a16:creationId xmlns:a16="http://schemas.microsoft.com/office/drawing/2014/main" id="{E8EEB296-8554-4D20-B3B8-C0BBC380A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845873"/>
              </p:ext>
            </p:extLst>
          </p:nvPr>
        </p:nvGraphicFramePr>
        <p:xfrm>
          <a:off x="444500" y="1337960"/>
          <a:ext cx="4287521" cy="3706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818">
                  <a:extLst>
                    <a:ext uri="{9D8B030D-6E8A-4147-A177-3AD203B41FA5}">
                      <a16:colId xmlns:a16="http://schemas.microsoft.com/office/drawing/2014/main" val="3559833401"/>
                    </a:ext>
                  </a:extLst>
                </a:gridCol>
                <a:gridCol w="1189509">
                  <a:extLst>
                    <a:ext uri="{9D8B030D-6E8A-4147-A177-3AD203B41FA5}">
                      <a16:colId xmlns:a16="http://schemas.microsoft.com/office/drawing/2014/main" val="82523989"/>
                    </a:ext>
                  </a:extLst>
                </a:gridCol>
                <a:gridCol w="1792194">
                  <a:extLst>
                    <a:ext uri="{9D8B030D-6E8A-4147-A177-3AD203B41FA5}">
                      <a16:colId xmlns:a16="http://schemas.microsoft.com/office/drawing/2014/main" val="3211310719"/>
                    </a:ext>
                  </a:extLst>
                </a:gridCol>
              </a:tblGrid>
              <a:tr h="894668">
                <a:tc>
                  <a:txBody>
                    <a:bodyPr/>
                    <a:lstStyle/>
                    <a:p>
                      <a:pPr algn="ctr" rtl="0"/>
                      <a:r>
                        <a:rPr lang="ru-RU" sz="1800" b="1" i="0" kern="120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Протокол</a:t>
                      </a:r>
                      <a:endParaRPr lang="ru-RU" sz="1600" b="0" noProof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Функция</a:t>
                      </a:r>
                      <a:endParaRPr lang="ru-RU" sz="1600" b="0" noProof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Макс. регистров</a:t>
                      </a:r>
                      <a:endParaRPr lang="ru-RU" sz="1600" b="0" noProof="0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630617"/>
                  </a:ext>
                </a:extLst>
              </a:tr>
              <a:tr h="894668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RTU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0x03, 0x04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274366"/>
                  </a:ext>
                </a:extLst>
              </a:tr>
              <a:tr h="511239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RTU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0x10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123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71508"/>
                  </a:ext>
                </a:extLst>
              </a:tr>
              <a:tr h="894668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ASCII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0x03, 0x04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384641"/>
                  </a:ext>
                </a:extLst>
              </a:tr>
              <a:tr h="511239"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ASCII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0x10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</a:t>
                      </a:r>
                      <a:endParaRPr lang="ru-RU" sz="1400" noProof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35587"/>
                  </a:ext>
                </a:extLst>
              </a:tr>
            </a:tbl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6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659" y="1337960"/>
            <a:ext cx="7157341" cy="370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31393"/>
            <a:ext cx="7781544" cy="1344558"/>
          </a:xfrm>
        </p:spPr>
        <p:txBody>
          <a:bodyPr rtlCol="0">
            <a:normAutofit fontScale="90000"/>
          </a:bodyPr>
          <a:lstStyle/>
          <a:p>
            <a:r>
              <a:rPr lang="ru-RU" dirty="0"/>
              <a:t>Пример формирования групповых запросов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069874"/>
            <a:ext cx="6803136" cy="365760"/>
          </a:xfrm>
        </p:spPr>
        <p:txBody>
          <a:bodyPr rtlCol="0"/>
          <a:lstStyle/>
          <a:p>
            <a:r>
              <a:rPr lang="ru-RU" b="1" dirty="0"/>
              <a:t>Ограничение:</a:t>
            </a:r>
            <a:r>
              <a:rPr lang="ru-RU" dirty="0"/>
              <a:t> макс. 16 регистров в запросе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7</a:t>
            </a:fld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795804"/>
              </p:ext>
            </p:extLst>
          </p:nvPr>
        </p:nvGraphicFramePr>
        <p:xfrm>
          <a:off x="831850" y="2734136"/>
          <a:ext cx="7292339" cy="2857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590">
                  <a:extLst>
                    <a:ext uri="{9D8B030D-6E8A-4147-A177-3AD203B41FA5}">
                      <a16:colId xmlns:a16="http://schemas.microsoft.com/office/drawing/2014/main" val="3944765084"/>
                    </a:ext>
                  </a:extLst>
                </a:gridCol>
                <a:gridCol w="1048512">
                  <a:extLst>
                    <a:ext uri="{9D8B030D-6E8A-4147-A177-3AD203B41FA5}">
                      <a16:colId xmlns:a16="http://schemas.microsoft.com/office/drawing/2014/main" val="1772016883"/>
                    </a:ext>
                  </a:extLst>
                </a:gridCol>
                <a:gridCol w="1456944">
                  <a:extLst>
                    <a:ext uri="{9D8B030D-6E8A-4147-A177-3AD203B41FA5}">
                      <a16:colId xmlns:a16="http://schemas.microsoft.com/office/drawing/2014/main" val="709980641"/>
                    </a:ext>
                  </a:extLst>
                </a:gridCol>
                <a:gridCol w="981456">
                  <a:extLst>
                    <a:ext uri="{9D8B030D-6E8A-4147-A177-3AD203B41FA5}">
                      <a16:colId xmlns:a16="http://schemas.microsoft.com/office/drawing/2014/main" val="1002917715"/>
                    </a:ext>
                  </a:extLst>
                </a:gridCol>
                <a:gridCol w="902208">
                  <a:extLst>
                    <a:ext uri="{9D8B030D-6E8A-4147-A177-3AD203B41FA5}">
                      <a16:colId xmlns:a16="http://schemas.microsoft.com/office/drawing/2014/main" val="207375749"/>
                    </a:ext>
                  </a:extLst>
                </a:gridCol>
                <a:gridCol w="2119629">
                  <a:extLst>
                    <a:ext uri="{9D8B030D-6E8A-4147-A177-3AD203B41FA5}">
                      <a16:colId xmlns:a16="http://schemas.microsoft.com/office/drawing/2014/main" val="2992380017"/>
                    </a:ext>
                  </a:extLst>
                </a:gridCol>
              </a:tblGrid>
              <a:tr h="67899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Переменная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переменной 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Функция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Период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команде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47321"/>
                  </a:ext>
                </a:extLst>
              </a:tr>
              <a:tr h="7260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Var-1</a:t>
                      </a:r>
                    </a:p>
                  </a:txBody>
                  <a:tcPr marL="38100" marR="38100" marT="38100" marB="381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ru-RU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nt</a:t>
                      </a:r>
                      <a:r>
                        <a:rPr lang="ru-RU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 </a:t>
                      </a:r>
                      <a:r>
                        <a:rPr lang="ru-RU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</a:t>
                      </a:r>
                      <a:r>
                        <a:rPr lang="ru-RU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0х03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мс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 переменной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типа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512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808285"/>
                  </a:ext>
                </a:extLst>
              </a:tr>
              <a:tr h="7260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Var-2</a:t>
                      </a:r>
                    </a:p>
                  </a:txBody>
                  <a:tcPr marL="38100" marR="38100" marT="38100" marB="381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ru-RU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nt</a:t>
                      </a:r>
                      <a:r>
                        <a:rPr lang="ru-RU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 </a:t>
                      </a:r>
                      <a:r>
                        <a:rPr lang="ru-RU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</a:t>
                      </a:r>
                      <a:r>
                        <a:rPr lang="ru-RU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501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0х03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мс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 переменной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типа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512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68963"/>
                  </a:ext>
                </a:extLst>
              </a:tr>
              <a:tr h="7260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Var-3</a:t>
                      </a:r>
                    </a:p>
                  </a:txBody>
                  <a:tcPr marL="38100" marR="38100" marT="38100" marB="381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ru-RU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nt</a:t>
                      </a:r>
                      <a:r>
                        <a:rPr lang="ru-RU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 </a:t>
                      </a:r>
                      <a:r>
                        <a:rPr lang="ru-RU" sz="16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</a:t>
                      </a:r>
                      <a:r>
                        <a:rPr lang="ru-RU" sz="16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0х04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мс</a:t>
                      </a:r>
                      <a:endParaRPr lang="ru-RU" sz="1600" b="0" i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Адрес переменной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типа </a:t>
                      </a:r>
                      <a:r>
                        <a:rPr lang="ru-RU" sz="16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r>
                        <a:rPr lang="ru-RU" sz="16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600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93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 rtlCol="0"/>
          <a:lstStyle/>
          <a:p>
            <a:r>
              <a:rPr lang="ru-RU" dirty="0"/>
              <a:t>ПРОЦЕСС РАЗРАБОТКИ</a:t>
            </a:r>
            <a:br>
              <a:rPr lang="ru-RU" dirty="0"/>
            </a:b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8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58036"/>
            <a:ext cx="7370064" cy="483218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7876903" y="1421428"/>
            <a:ext cx="444920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200" b="1" dirty="0" smtClean="0">
                <a:solidFill>
                  <a:srgbClr val="F9FAFB"/>
                </a:solidFill>
                <a:latin typeface="Arial (Основной текст)"/>
              </a:rPr>
              <a:t> </a:t>
            </a:r>
            <a:r>
              <a:rPr lang="ru-RU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📝</a:t>
            </a:r>
            <a:r>
              <a:rPr lang="ru-RU" sz="1200" b="1" dirty="0" smtClean="0">
                <a:solidFill>
                  <a:srgbClr val="F9FAFB"/>
                </a:solidFill>
                <a:latin typeface="Arial (Основной текст)"/>
              </a:rPr>
              <a:t>АНАЛИТИКА (6 задач)</a:t>
            </a:r>
            <a:endParaRPr lang="ru-RU" sz="1200" dirty="0" smtClean="0">
              <a:solidFill>
                <a:srgbClr val="F9FAFB"/>
              </a:solidFill>
              <a:latin typeface="Arial (Основной текст)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Согласование требований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Максимальное кол-во регистров в запросе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Доработка шаблонов КС1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Тех. описание в Справке и РП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Корректировка макс. кол-во регистров в документации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Корректировка макс. кол-во регистров в справке и в РП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u-RU" sz="1200" dirty="0" smtClean="0">
              <a:solidFill>
                <a:srgbClr val="F9FAFB"/>
              </a:solidFill>
              <a:latin typeface="Arial (Основной текст)"/>
            </a:endParaRPr>
          </a:p>
          <a:p>
            <a:pPr algn="just"/>
            <a:r>
              <a:rPr lang="ru-RU" sz="1200" b="1" dirty="0" smtClean="0">
                <a:solidFill>
                  <a:schemeClr val="bg1"/>
                </a:solidFill>
                <a:latin typeface="Arial (Основной текст)"/>
              </a:rPr>
              <a:t>⚙</a:t>
            </a:r>
            <a:r>
              <a:rPr lang="ru-RU" sz="1200" b="1" dirty="0" smtClean="0">
                <a:solidFill>
                  <a:srgbClr val="F9FAFB"/>
                </a:solidFill>
                <a:latin typeface="Arial (Основной текст)"/>
              </a:rPr>
              <a:t> РАЗРАБОТКА (9 задач)</a:t>
            </a:r>
            <a:endParaRPr lang="ru-RU" sz="1200" dirty="0" smtClean="0">
              <a:solidFill>
                <a:srgbClr val="F9FAFB"/>
              </a:solidFill>
              <a:latin typeface="Arial (Основной текст)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Добавить визуальные элементы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Сохранять значения UI при закрытии проекта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Привязка UI к бизнес-логике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Сохранение/восстановление значений UI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Передача параметров прибору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Передача совмещенных запросов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Открытие шаблонов КС1/КС2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Ограничение на ввод регистров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Изменение порядка анализаторов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Тестирование Групповой опрос КС1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u-RU" sz="1200" dirty="0" smtClean="0">
              <a:solidFill>
                <a:srgbClr val="F9FAFB"/>
              </a:solidFill>
              <a:latin typeface="Arial (Основной текст)"/>
            </a:endParaRPr>
          </a:p>
          <a:p>
            <a:pPr algn="just"/>
            <a:r>
              <a:rPr lang="ru-RU" sz="1200" b="1" dirty="0" smtClean="0">
                <a:solidFill>
                  <a:srgbClr val="92D050"/>
                </a:solidFill>
                <a:latin typeface="Arial (Основной текст)"/>
              </a:rPr>
              <a:t>🐛</a:t>
            </a:r>
            <a:r>
              <a:rPr lang="ru-RU" sz="1200" b="1" dirty="0" smtClean="0">
                <a:solidFill>
                  <a:srgbClr val="F9FAFB"/>
                </a:solidFill>
                <a:latin typeface="Arial (Основной текст)"/>
              </a:rPr>
              <a:t> ИСПРАВЛЕНИЕ ДЕФЕКТОВ (5 задач)</a:t>
            </a:r>
            <a:endParaRPr lang="ru-RU" sz="1200" dirty="0" smtClean="0">
              <a:solidFill>
                <a:srgbClr val="F9FAFB"/>
              </a:solidFill>
              <a:latin typeface="Arial (Основной текст)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Некорректное число регистров в старых проектах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Ограничения для протокола ASCII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Проблемы с шаблонами старых версий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F9FAFB"/>
                </a:solidFill>
                <a:latin typeface="Arial (Основной текст)"/>
              </a:rPr>
              <a:t>Некорректные данные в ПР200</a:t>
            </a:r>
            <a:endParaRPr lang="ru-RU" sz="1200" b="0" i="0" dirty="0">
              <a:solidFill>
                <a:srgbClr val="F9FAFB"/>
              </a:solidFill>
              <a:effectLst/>
              <a:latin typeface="Arial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542925"/>
            <a:ext cx="6888480" cy="535531"/>
          </a:xfrm>
        </p:spPr>
        <p:txBody>
          <a:bodyPr rtlCol="0"/>
          <a:lstStyle/>
          <a:p>
            <a:r>
              <a:rPr lang="ru-RU" dirty="0"/>
              <a:t>Алгоритм формирования запросов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9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718560"/>
            <a:ext cx="10783359" cy="3170247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146304" y="1480947"/>
            <a:ext cx="4029456" cy="2097405"/>
          </a:xfrm>
        </p:spPr>
        <p:txBody>
          <a:bodyPr rtlCol="0">
            <a:noAutofit/>
          </a:bodyPr>
          <a:lstStyle/>
          <a:p>
            <a:r>
              <a:rPr lang="ru-RU" sz="1600" b="1" dirty="0">
                <a:solidFill>
                  <a:srgbClr val="00B050"/>
                </a:solidFill>
              </a:rPr>
              <a:t>✅</a:t>
            </a:r>
            <a:r>
              <a:rPr lang="ru-RU" sz="1600" b="1" dirty="0"/>
              <a:t> Var-1 + Var-2 = Группировка возможна:</a:t>
            </a:r>
            <a:endParaRPr lang="ru-RU" sz="1600" dirty="0"/>
          </a:p>
          <a:p>
            <a:r>
              <a:rPr lang="ru-RU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🔗</a:t>
            </a:r>
            <a:r>
              <a:rPr lang="ru-RU" sz="1600" dirty="0" smtClean="0"/>
              <a:t> </a:t>
            </a:r>
            <a:r>
              <a:rPr lang="ru-RU" sz="1600" dirty="0"/>
              <a:t>Адреса идут подряд (500→501)</a:t>
            </a:r>
          </a:p>
          <a:p>
            <a:r>
              <a:rPr lang="ru-RU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🔄</a:t>
            </a:r>
            <a:r>
              <a:rPr lang="ru-RU" sz="1600" dirty="0" smtClean="0"/>
              <a:t> </a:t>
            </a:r>
            <a:r>
              <a:rPr lang="ru-RU" sz="1600" dirty="0"/>
              <a:t>Одинаковая функция 0x03</a:t>
            </a:r>
          </a:p>
          <a:p>
            <a:r>
              <a:rPr lang="ru-RU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🕒</a:t>
            </a:r>
            <a:r>
              <a:rPr lang="ru-RU" sz="1600" dirty="0" smtClean="0"/>
              <a:t> </a:t>
            </a:r>
            <a:r>
              <a:rPr lang="ru-RU" sz="1600" dirty="0"/>
              <a:t>Одинаковый период 100 </a:t>
            </a:r>
            <a:r>
              <a:rPr lang="ru-RU" sz="1600" dirty="0" err="1"/>
              <a:t>мс</a:t>
            </a:r>
            <a:endParaRPr lang="ru-RU" sz="1600" dirty="0"/>
          </a:p>
          <a:p>
            <a:r>
              <a:rPr lang="ru-RU" sz="1600" b="1" dirty="0"/>
              <a:t>⚙</a:t>
            </a:r>
            <a:r>
              <a:rPr lang="ru-RU" sz="1600" dirty="0" smtClean="0"/>
              <a:t> Одинаковая командная переменная </a:t>
            </a:r>
            <a:r>
              <a:rPr lang="ru-RU" sz="1600" b="1" dirty="0"/>
              <a:t>⚙</a:t>
            </a:r>
            <a:endParaRPr lang="ru-RU" sz="1600" dirty="0"/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6753902" y="1480946"/>
            <a:ext cx="4029456" cy="2097406"/>
          </a:xfrm>
        </p:spPr>
        <p:txBody>
          <a:bodyPr rtlCol="0">
            <a:normAutofit/>
          </a:bodyPr>
          <a:lstStyle/>
          <a:p>
            <a:r>
              <a:rPr lang="ru-RU" sz="1600" b="1" dirty="0">
                <a:solidFill>
                  <a:srgbClr val="FF0000"/>
                </a:solidFill>
              </a:rPr>
              <a:t>❌</a:t>
            </a:r>
            <a:r>
              <a:rPr lang="ru-RU" sz="1600" b="1" dirty="0"/>
              <a:t> Var-3 = Индивидуальные запросы:</a:t>
            </a:r>
            <a:endParaRPr lang="ru-RU" sz="1600" dirty="0"/>
          </a:p>
          <a:p>
            <a:r>
              <a:rPr lang="ru-RU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🔗</a:t>
            </a:r>
            <a:r>
              <a:rPr lang="ru-RU" sz="1600" dirty="0" smtClean="0"/>
              <a:t> </a:t>
            </a:r>
            <a:r>
              <a:rPr lang="ru-RU" sz="1600" dirty="0"/>
              <a:t>Разрыв адресов (501→506)</a:t>
            </a:r>
          </a:p>
          <a:p>
            <a:r>
              <a:rPr lang="ru-RU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🔄</a:t>
            </a:r>
            <a:r>
              <a:rPr lang="ru-RU" sz="1600" dirty="0" smtClean="0"/>
              <a:t> </a:t>
            </a:r>
            <a:r>
              <a:rPr lang="ru-RU" sz="1600" dirty="0"/>
              <a:t>Разная функция 0x04</a:t>
            </a:r>
          </a:p>
          <a:p>
            <a:r>
              <a:rPr lang="ru-RU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🕒</a:t>
            </a:r>
            <a:r>
              <a:rPr lang="ru-RU" sz="1600" dirty="0" smtClean="0"/>
              <a:t> </a:t>
            </a:r>
            <a:r>
              <a:rPr lang="ru-RU" sz="1600" dirty="0"/>
              <a:t>Разный период 50 </a:t>
            </a:r>
            <a:r>
              <a:rPr lang="ru-RU" sz="1600" dirty="0" err="1"/>
              <a:t>мс</a:t>
            </a:r>
            <a:endParaRPr lang="ru-RU" sz="1600" dirty="0"/>
          </a:p>
          <a:p>
            <a:r>
              <a:rPr lang="ru-RU" sz="1600" b="1" dirty="0"/>
              <a:t>⚙</a:t>
            </a:r>
            <a:r>
              <a:rPr lang="ru-RU" sz="1600" dirty="0" smtClean="0"/>
              <a:t> </a:t>
            </a:r>
            <a:r>
              <a:rPr lang="ru-RU" sz="1600" dirty="0"/>
              <a:t>Разная командная переменная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 rtlCol="0"/>
          <a:lstStyle/>
          <a:p>
            <a:r>
              <a:rPr lang="ru-RU" dirty="0"/>
              <a:t>Результаты и эффективность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8" name="Диаграмма 6" title="Gross Revenue Placeholder Chart">
            <a:extLst>
              <a:ext uri="{FF2B5EF4-FFF2-40B4-BE49-F238E27FC236}">
                <a16:creationId xmlns:a16="http://schemas.microsoft.com/office/drawing/2014/main" id="{CDBB16C9-AACC-4C56-B938-95BF62DDEA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2349140"/>
              </p:ext>
            </p:extLst>
          </p:nvPr>
        </p:nvGraphicFramePr>
        <p:xfrm>
          <a:off x="444500" y="1521654"/>
          <a:ext cx="6888988" cy="4373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10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470648" y="1521654"/>
            <a:ext cx="45811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FE9516"/>
                </a:solidFill>
                <a:latin typeface="quote-cjk-patch"/>
              </a:rPr>
              <a:t>📊</a:t>
            </a:r>
            <a:r>
              <a:rPr lang="ru-RU" b="1" dirty="0">
                <a:solidFill>
                  <a:srgbClr val="F9FAFB"/>
                </a:solidFill>
                <a:latin typeface="quote-cjk-patch"/>
              </a:rPr>
              <a:t> Эффективность</a:t>
            </a:r>
            <a:r>
              <a:rPr lang="ru-RU" b="1" dirty="0" smtClean="0">
                <a:solidFill>
                  <a:srgbClr val="F9FAFB"/>
                </a:solidFill>
                <a:latin typeface="quote-cjk-patch"/>
              </a:rPr>
              <a:t>:</a:t>
            </a:r>
          </a:p>
          <a:p>
            <a:endParaRPr lang="ru-RU" dirty="0">
              <a:solidFill>
                <a:srgbClr val="F9FAFB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Снижение количества запросов на </a:t>
            </a:r>
            <a:r>
              <a:rPr lang="ru-RU" b="1" dirty="0">
                <a:solidFill>
                  <a:srgbClr val="F9FAFB"/>
                </a:solidFill>
                <a:latin typeface="quote-cjk-patch"/>
              </a:rPr>
              <a:t>33</a:t>
            </a:r>
            <a:r>
              <a:rPr lang="ru-RU" b="1" dirty="0" smtClean="0">
                <a:solidFill>
                  <a:srgbClr val="F9FAFB"/>
                </a:solidFill>
                <a:latin typeface="quote-cjk-patch"/>
              </a:rPr>
              <a:t>%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>
              <a:solidFill>
                <a:srgbClr val="F9FAFB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Оптимизация сетевой </a:t>
            </a:r>
            <a:r>
              <a:rPr lang="ru-RU" dirty="0" smtClean="0">
                <a:solidFill>
                  <a:srgbClr val="F9FAFB"/>
                </a:solidFill>
                <a:latin typeface="quote-cjk-patch"/>
              </a:rPr>
              <a:t>нагрузки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>
              <a:solidFill>
                <a:srgbClr val="F9FAFB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9FAFB"/>
                </a:solidFill>
                <a:latin typeface="quote-cjk-patch"/>
              </a:rPr>
              <a:t>Повышение производительности системы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 smtClean="0"/>
              <a:t>Заголовок раздела 02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ru-RU" dirty="0"/>
              <a:t>Подзаголовок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5328" y="0"/>
            <a:ext cx="5376672" cy="2868168"/>
          </a:xfrm>
        </p:spPr>
        <p:txBody>
          <a:bodyPr rtlCol="0"/>
          <a:lstStyle/>
          <a:p>
            <a:r>
              <a:rPr lang="ru-RU" dirty="0"/>
              <a:t>Алгоритм формирования </a:t>
            </a:r>
            <a:r>
              <a:rPr lang="ru-RU" dirty="0" smtClean="0"/>
              <a:t>запросов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900887"/>
            <a:ext cx="10058400" cy="295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8080" y="983379"/>
            <a:ext cx="4693920" cy="808845"/>
          </a:xfrm>
        </p:spPr>
        <p:txBody>
          <a:bodyPr rtlCol="0"/>
          <a:lstStyle/>
          <a:p>
            <a:r>
              <a:rPr lang="ru-RU" sz="4400" dirty="0"/>
              <a:t>ТЕСТИРОВАНИЕ 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845808" y="2676144"/>
            <a:ext cx="5346192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0B050"/>
                </a:solidFill>
                <a:latin typeface="Arial (Основной текст)"/>
              </a:rPr>
              <a:t>⚡</a:t>
            </a:r>
            <a:r>
              <a:rPr lang="ru-RU" sz="2000" b="1" dirty="0" smtClean="0">
                <a:solidFill>
                  <a:srgbClr val="F9FAFB"/>
                </a:solidFill>
                <a:latin typeface="Arial (Основной текст)"/>
              </a:rPr>
              <a:t> </a:t>
            </a:r>
            <a:r>
              <a:rPr lang="ru-RU" sz="2000" b="1" dirty="0">
                <a:solidFill>
                  <a:srgbClr val="F9FAFB"/>
                </a:solidFill>
                <a:latin typeface="Arial (Основной текст)"/>
              </a:rPr>
              <a:t>Комплексное тестирование</a:t>
            </a:r>
          </a:p>
          <a:p>
            <a:r>
              <a:rPr lang="ru-RU" sz="2000" b="1" dirty="0">
                <a:solidFill>
                  <a:srgbClr val="F9FAFB"/>
                </a:solidFill>
                <a:latin typeface="Arial (Основной текст)"/>
              </a:rPr>
              <a:t>7 тест-кейсов:</a:t>
            </a:r>
            <a:endParaRPr lang="ru-RU" sz="2000" dirty="0">
              <a:solidFill>
                <a:srgbClr val="F9FAFB"/>
              </a:solidFill>
              <a:latin typeface="Arial (Основной текст)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OL-T27: </a:t>
            </a:r>
            <a:r>
              <a:rPr lang="ru-RU" sz="2000" dirty="0" err="1">
                <a:solidFill>
                  <a:srgbClr val="F9FAFB"/>
                </a:solidFill>
                <a:latin typeface="Arial (Основной текст)"/>
              </a:rPr>
              <a:t>Валидация</a:t>
            </a: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 настроек </a:t>
            </a:r>
            <a:r>
              <a:rPr lang="ru-RU" sz="2000" dirty="0" smtClean="0">
                <a:solidFill>
                  <a:srgbClr val="00B050"/>
                </a:solidFill>
                <a:latin typeface="Arial (Основной текст)"/>
              </a:rPr>
              <a:t>✅</a:t>
            </a:r>
            <a:endParaRPr lang="ru-RU" sz="2000" dirty="0">
              <a:solidFill>
                <a:srgbClr val="00B050"/>
              </a:solidFill>
              <a:latin typeface="Arial (Основной текст)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OL-T28: Проверка условий группировки </a:t>
            </a:r>
            <a:r>
              <a:rPr lang="ru-RU" sz="2000" dirty="0" smtClean="0">
                <a:solidFill>
                  <a:srgbClr val="00B050"/>
                </a:solidFill>
                <a:latin typeface="Arial (Основной текст)"/>
              </a:rPr>
              <a:t>✅</a:t>
            </a:r>
            <a:endParaRPr lang="ru-RU" sz="2000" dirty="0">
              <a:solidFill>
                <a:srgbClr val="00B050"/>
              </a:solidFill>
              <a:latin typeface="Arial (Основной текст)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OL-T29: Вариации групп переменных </a:t>
            </a:r>
            <a:r>
              <a:rPr lang="ru-RU" sz="2000" dirty="0" smtClean="0">
                <a:solidFill>
                  <a:srgbClr val="00B050"/>
                </a:solidFill>
                <a:latin typeface="Arial (Основной текст)"/>
              </a:rPr>
              <a:t>✅</a:t>
            </a:r>
            <a:endParaRPr lang="ru-RU" sz="2000" dirty="0">
              <a:solidFill>
                <a:srgbClr val="00B050"/>
              </a:solidFill>
              <a:latin typeface="Arial (Основной текст)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OL-T30: Статус операций </a:t>
            </a:r>
            <a:r>
              <a:rPr lang="ru-RU" sz="2000" dirty="0" smtClean="0">
                <a:solidFill>
                  <a:srgbClr val="00B050"/>
                </a:solidFill>
                <a:latin typeface="Arial (Основной текст)"/>
              </a:rPr>
              <a:t>✅</a:t>
            </a:r>
            <a:endParaRPr lang="ru-RU" sz="2000" dirty="0">
              <a:solidFill>
                <a:srgbClr val="00B050"/>
              </a:solidFill>
              <a:latin typeface="Arial (Основной текст)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OL-T31: Редактирование переменных </a:t>
            </a:r>
            <a:r>
              <a:rPr lang="ru-RU" sz="2000" dirty="0" smtClean="0">
                <a:solidFill>
                  <a:srgbClr val="00B050"/>
                </a:solidFill>
                <a:latin typeface="Arial (Основной текст)"/>
              </a:rPr>
              <a:t>✅</a:t>
            </a:r>
            <a:endParaRPr lang="ru-RU" sz="2000" dirty="0">
              <a:solidFill>
                <a:srgbClr val="00B050"/>
              </a:solidFill>
              <a:latin typeface="Arial (Основной текст)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OL-T32: Работа с шаблонами </a:t>
            </a:r>
            <a:r>
              <a:rPr lang="ru-RU" sz="2000" dirty="0" smtClean="0">
                <a:solidFill>
                  <a:srgbClr val="00B050"/>
                </a:solidFill>
                <a:latin typeface="Arial (Основной текст)"/>
              </a:rPr>
              <a:t>✅</a:t>
            </a:r>
            <a:endParaRPr lang="ru-RU" sz="2000" dirty="0">
              <a:solidFill>
                <a:srgbClr val="00B050"/>
              </a:solidFill>
              <a:latin typeface="Arial (Основной текст)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F9FAFB"/>
                </a:solidFill>
                <a:latin typeface="Arial (Основной текст)"/>
              </a:rPr>
              <a:t>OL-T33: Отключение группировки </a:t>
            </a:r>
            <a:r>
              <a:rPr lang="ru-RU" sz="2000" dirty="0" smtClean="0">
                <a:solidFill>
                  <a:srgbClr val="00B050"/>
                </a:solidFill>
                <a:latin typeface="Arial (Основной текст)"/>
              </a:rPr>
              <a:t>✅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9814"/>
            <a:ext cx="5376672" cy="253818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76672" cy="43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 dirty="0"/>
              <a:t>Основные результаты</a:t>
            </a:r>
          </a:p>
        </p:txBody>
      </p:sp>
      <p:sp>
        <p:nvSpPr>
          <p:cNvPr id="8" name="Надпись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132932" y="1648736"/>
            <a:ext cx="993832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Изучены особенности протоколов </a:t>
            </a:r>
            <a:r>
              <a:rPr lang="ru-RU" sz="2200" dirty="0" err="1">
                <a:solidFill>
                  <a:schemeClr val="bg1"/>
                </a:solidFill>
              </a:rPr>
              <a:t>Modbus</a:t>
            </a:r>
            <a:r>
              <a:rPr lang="ru-RU" sz="2200" dirty="0">
                <a:solidFill>
                  <a:schemeClr val="bg1"/>
                </a:solidFill>
              </a:rPr>
              <a:t> RTU/ASCII и среды </a:t>
            </a:r>
            <a:r>
              <a:rPr lang="ru-RU" sz="2200" dirty="0" err="1">
                <a:solidFill>
                  <a:schemeClr val="bg1"/>
                </a:solidFill>
              </a:rPr>
              <a:t>Owen</a:t>
            </a:r>
            <a:r>
              <a:rPr lang="ru-RU" sz="2200" dirty="0">
                <a:solidFill>
                  <a:schemeClr val="bg1"/>
                </a:solidFill>
              </a:rPr>
              <a:t> </a:t>
            </a:r>
            <a:r>
              <a:rPr lang="ru-RU" sz="2200" dirty="0" err="1">
                <a:solidFill>
                  <a:schemeClr val="bg1"/>
                </a:solidFill>
              </a:rPr>
              <a:t>Logic</a:t>
            </a:r>
            <a:r>
              <a:rPr lang="ru-RU" sz="2200" dirty="0">
                <a:solidFill>
                  <a:schemeClr val="bg1"/>
                </a:solidFill>
              </a:rPr>
              <a:t>, что позволило определить требования к группировке переменных: совпадение типа данных, адреса устройства, функций чтения/записи и условий опроса.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Разработан модуль, поддерживающий два режима работы: оптимизированный (с автоматической группировкой запросов для максимальной производительности) и прямой (для детального управления отдельными переменными).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bg1"/>
                </a:solidFill>
              </a:rPr>
              <a:t>Проведено тестирование модуля, подтвердившее корректность группировки переменных и строгое соблюдение ограничений протокола </a:t>
            </a:r>
            <a:r>
              <a:rPr lang="ru-RU" sz="2200" dirty="0" err="1">
                <a:solidFill>
                  <a:schemeClr val="bg1"/>
                </a:solidFill>
              </a:rPr>
              <a:t>Modbus</a:t>
            </a:r>
            <a:r>
              <a:rPr lang="ru-RU" sz="2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14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821" y="3330535"/>
            <a:ext cx="1411180" cy="112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666_TF66687569" id="{8088A86A-5DE3-4754-A836-2A3C30D038B3}" vid="{7A96DF9F-A41C-4EE8-8C3F-8182B482B139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95DE24-D6C3-4A00-9085-D9594C193A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992231-163D-4428-A2B8-DA1FE0274129}">
  <ds:schemaRefs>
    <ds:schemaRef ds:uri="http://purl.org/dc/terms/"/>
    <ds:schemaRef ds:uri="6dc4bcd6-49db-4c07-9060-8acfc67cef9f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fb0879af-3eba-417a-a55a-ffe6dcd6ca77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B67ACAB-C3DC-429D-A23C-0723C084F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Современная презентация (синее оформление)</Template>
  <TotalTime>0</TotalTime>
  <Words>472</Words>
  <Application>Microsoft Office PowerPoint</Application>
  <PresentationFormat>Широкоэкранный</PresentationFormat>
  <Paragraphs>171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Arial</vt:lpstr>
      <vt:lpstr>Arial (Основной текст)</vt:lpstr>
      <vt:lpstr>Calibri</vt:lpstr>
      <vt:lpstr>quote-cjk-patch</vt:lpstr>
      <vt:lpstr>Tahoma</vt:lpstr>
      <vt:lpstr>Trade Gothic LT Pro</vt:lpstr>
      <vt:lpstr>Trebuchet MS</vt:lpstr>
      <vt:lpstr>Тема Office</vt:lpstr>
      <vt:lpstr>Разработка модуля обработки групповых запросов Modbus в среде Owen Logic </vt:lpstr>
      <vt:lpstr>Цели и задачи работы</vt:lpstr>
      <vt:lpstr>Проблема неэффективного опроса устройств  Последовательный опрос переменных приводит к значительным издержкам и ограничивает производительность системы КС1.</vt:lpstr>
      <vt:lpstr>Заголовок</vt:lpstr>
      <vt:lpstr>Ключевые условия группировки запросов</vt:lpstr>
      <vt:lpstr>Ограничения протоколов Modbus RTU и ASCII </vt:lpstr>
      <vt:lpstr>Пример формирования групповых запросов</vt:lpstr>
      <vt:lpstr>ПРОЦЕСС РАЗРАБОТКИ </vt:lpstr>
      <vt:lpstr>Алгоритм формирования запросов</vt:lpstr>
      <vt:lpstr>Результаты и эффективность </vt:lpstr>
      <vt:lpstr>Заголовок раздела 02</vt:lpstr>
      <vt:lpstr>Алгоритм формирования запросов</vt:lpstr>
      <vt:lpstr>ТЕСТИРОВАНИЕ </vt:lpstr>
      <vt:lpstr>Основные результаты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2025-11-29T16:02:20Z</dcterms:created>
  <dcterms:modified xsi:type="dcterms:W3CDTF">2025-11-30T20:46:29Z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