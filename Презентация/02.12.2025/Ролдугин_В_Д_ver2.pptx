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7" r:id="rId6"/>
    <p:sldId id="258" r:id="rId7"/>
    <p:sldId id="264" r:id="rId8"/>
    <p:sldId id="266" r:id="rId9"/>
    <p:sldId id="257" r:id="rId10"/>
    <p:sldId id="261" r:id="rId11"/>
    <p:sldId id="284" r:id="rId12"/>
    <p:sldId id="283" r:id="rId13"/>
    <p:sldId id="268" r:id="rId14"/>
    <p:sldId id="285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516"/>
    <a:srgbClr val="AF6001"/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запросов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ltUpDiag">
                <a:fgClr>
                  <a:schemeClr val="accent1">
                    <a:lumMod val="50000"/>
                  </a:schemeClr>
                </a:fgClr>
                <a:bgClr>
                  <a:schemeClr val="accent6"/>
                </a:bgClr>
              </a:pattFill>
              <a:ln w="127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A3-42BD-B1B8-9E368E64ABCB}"/>
              </c:ext>
            </c:extLst>
          </c:dPt>
          <c:cat>
            <c:strRef>
              <c:f>Sheet1!$A$2:$A$3</c:f>
              <c:strCache>
                <c:ptCount val="2"/>
                <c:pt idx="0">
                  <c:v>Без группировки</c:v>
                </c:pt>
                <c:pt idx="1">
                  <c:v>С группировкой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A3-42BD-B1B8-9E368E64A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"/>
        <c:axId val="1000041416"/>
        <c:axId val="1000041744"/>
      </c:barChart>
      <c:catAx>
        <c:axId val="1000041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  <c:max val="6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01.12.2025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690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271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706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2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61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46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83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57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ru-ru/article/%D0%A0%D0%B5%D0%B4%D0%B0%D0%BA%D1%82%D0%B8%D1%80%D0%BE%D0%B2%D0%B0%D0%BD%D0%B8%D0%B5-%D0%BF%D1%80%D0%B5%D0%B7%D0%B5%D0%BD%D1%82%D0%B0%D1%86%D0%B8%D0%B8-ff353d37-742a-4aa8-8bdd-6b1f488127a2?omkt=ru-RU&amp;ui=ru-RU&amp;rs=ru-RU&amp;ad=R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621536"/>
            <a:ext cx="9369552" cy="2776292"/>
          </a:xfrm>
        </p:spPr>
        <p:txBody>
          <a:bodyPr rtlCol="0"/>
          <a:lstStyle/>
          <a:p>
            <a:r>
              <a:rPr lang="ru-RU" sz="4400" dirty="0"/>
              <a:t>Разработка модуля обработки групповых запросов </a:t>
            </a:r>
            <a:r>
              <a:rPr lang="en-US" sz="4400" dirty="0"/>
              <a:t>Modbus </a:t>
            </a:r>
            <a:r>
              <a:rPr lang="ru-RU" sz="4400" dirty="0"/>
              <a:t>в среде </a:t>
            </a:r>
            <a:r>
              <a:rPr lang="en-US" sz="4400" dirty="0"/>
              <a:t>Owen Logic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687824"/>
            <a:ext cx="9369552" cy="1105987"/>
          </a:xfrm>
        </p:spPr>
        <p:txBody>
          <a:bodyPr rtlCol="0">
            <a:noAutofit/>
          </a:bodyPr>
          <a:lstStyle/>
          <a:p>
            <a:r>
              <a:rPr lang="ru-RU" sz="1600" b="1" dirty="0"/>
              <a:t>Выполнил: студент группы Б22-В71: Ролдугин В.Д.</a:t>
            </a:r>
            <a:endParaRPr lang="ru-RU" sz="1600" dirty="0"/>
          </a:p>
          <a:p>
            <a:r>
              <a:rPr lang="ru-RU" sz="1600" b="1" dirty="0"/>
              <a:t>Руководитель работы: Новиков Г.Г., к.т.н., доцент НИЯУ МИФИ </a:t>
            </a:r>
            <a:endParaRPr lang="ru-RU" sz="1600" dirty="0"/>
          </a:p>
          <a:p>
            <a:r>
              <a:rPr lang="ru-RU" sz="1600" b="1" dirty="0"/>
              <a:t>Место выполнения: ООО «Овен Цифровые решения»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66605" y="235357"/>
            <a:ext cx="8046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НАЦИОНАЛЬНЫЙ ИССЛЕДОВАТЕЛЬСКИЙ ЯДЕРНЫЙ УНИВЕРСИТЕТ «МИФИ»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ИНСТИТУТ ИНТЕЛЛЕКТУАЛЬНЫХ КИБЕРНЕТИЧЕСКИХ СИСТЕМ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КАФЕДРА «КОМПЬЮТЕРНЫЕ СИСТЕМЫ И ТЕХНОЛОГИИ»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44073" y="6088161"/>
            <a:ext cx="1903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Москва, 2025г.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001818"/>
            <a:ext cx="6827521" cy="3602182"/>
          </a:xfrm>
        </p:spPr>
        <p:txBody>
          <a:bodyPr rtlCol="0">
            <a:normAutofit/>
          </a:bodyPr>
          <a:lstStyle/>
          <a:p>
            <a:r>
              <a:rPr lang="ru-RU" sz="4400" dirty="0"/>
              <a:t>Проблема неэффективного опроса устройств</a:t>
            </a:r>
            <a:br>
              <a:rPr lang="ru-RU" sz="2400" dirty="0"/>
            </a:br>
            <a:br>
              <a:rPr lang="ru-RU" sz="2400" dirty="0"/>
            </a:br>
            <a:r>
              <a:rPr lang="ru-RU" sz="2200" dirty="0"/>
              <a:t>Последовательный опрос переменных приводит к значительным издержкам и ограничивает производительность системы КС1.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2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36" y="-1"/>
            <a:ext cx="4562964" cy="60597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68" y="530733"/>
            <a:ext cx="11214100" cy="535531"/>
          </a:xfrm>
        </p:spPr>
        <p:txBody>
          <a:bodyPr rtlCol="0"/>
          <a:lstStyle/>
          <a:p>
            <a:r>
              <a:rPr lang="ru-RU" dirty="0"/>
              <a:t>Цели и задачи работы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0868" y="1385455"/>
            <a:ext cx="7499382" cy="1810328"/>
          </a:xfrm>
        </p:spPr>
        <p:txBody>
          <a:bodyPr rtlCol="0"/>
          <a:lstStyle/>
          <a:p>
            <a:pPr marL="0" indent="0">
              <a:buNone/>
            </a:pPr>
            <a:r>
              <a:rPr lang="ru-RU" sz="2000" dirty="0"/>
              <a:t>Цель работы — разработка модуля группового опроса </a:t>
            </a:r>
            <a:r>
              <a:rPr lang="ru-RU" sz="2000" dirty="0" err="1"/>
              <a:t>Modbus</a:t>
            </a:r>
            <a:r>
              <a:rPr lang="ru-RU" sz="2000" dirty="0"/>
              <a:t>-устройств для платформы КС1, обеспечивающего повышение производительности за счет оптимизации сетевых запросов.</a:t>
            </a:r>
          </a:p>
          <a:p>
            <a:pPr marL="0" indent="0">
              <a:buNone/>
            </a:pPr>
            <a:r>
              <a:rPr lang="ru-RU" dirty="0"/>
              <a:t>______________________________________________________________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40868" y="3190395"/>
            <a:ext cx="11151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Задачи: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535906" y="3190395"/>
            <a:ext cx="630434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Изучение и анализ особенностей протоколов </a:t>
            </a:r>
            <a:r>
              <a:rPr lang="ru-RU" sz="2000" dirty="0" err="1">
                <a:solidFill>
                  <a:schemeClr val="bg1"/>
                </a:solidFill>
              </a:rPr>
              <a:t>Modbus</a:t>
            </a:r>
            <a:r>
              <a:rPr lang="ru-RU" sz="2000" dirty="0">
                <a:solidFill>
                  <a:schemeClr val="bg1"/>
                </a:solidFill>
              </a:rPr>
              <a:t> RTU/ASCII и их ограничений для групповой обработки запросов</a:t>
            </a:r>
          </a:p>
          <a:p>
            <a:pPr lvl="0"/>
            <a:endParaRPr lang="ru-RU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Разработка и реализация алгоритмов группировки переменных с учетом требований среды </a:t>
            </a:r>
            <a:r>
              <a:rPr lang="ru-RU" sz="2000" dirty="0" err="1">
                <a:solidFill>
                  <a:schemeClr val="bg1"/>
                </a:solidFill>
              </a:rPr>
              <a:t>Owen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Logic</a:t>
            </a:r>
            <a:endParaRPr lang="ru-RU" sz="2000" dirty="0">
              <a:solidFill>
                <a:schemeClr val="bg1"/>
              </a:solidFill>
            </a:endParaRPr>
          </a:p>
          <a:p>
            <a:pPr lvl="0"/>
            <a:endParaRPr lang="ru-RU" sz="20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Тестирование работы модуля на оборудовании серии ПР200 с проверкой корректности формирования групповых запросов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02" y="2723266"/>
            <a:ext cx="3956934" cy="39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4"/>
            <a:ext cx="4282349" cy="798195"/>
          </a:xfrm>
        </p:spPr>
        <p:txBody>
          <a:bodyPr rtlCol="0"/>
          <a:lstStyle/>
          <a:p>
            <a:r>
              <a:rPr lang="ru-RU" sz="2400" dirty="0"/>
              <a:t>Ключевые условия группировки запросов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1531474"/>
            <a:ext cx="3694684" cy="4576718"/>
          </a:xfrm>
        </p:spPr>
        <p:txBody>
          <a:bodyPr rtlCol="0"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🔢</a:t>
            </a:r>
            <a:r>
              <a:rPr lang="ru-RU" sz="1800" b="1" dirty="0"/>
              <a:t> Устройство</a:t>
            </a:r>
            <a:r>
              <a:rPr lang="ru-RU" sz="1800" dirty="0"/>
              <a:t> — только переменные одного </a:t>
            </a:r>
            <a:r>
              <a:rPr lang="ru-RU" sz="1800" dirty="0" err="1"/>
              <a:t>Slave</a:t>
            </a:r>
            <a:endParaRPr lang="ru-RU" sz="1800" dirty="0"/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b="1" dirty="0">
                <a:solidFill>
                  <a:srgbClr val="FE9516"/>
                </a:solidFill>
              </a:rPr>
              <a:t>📊</a:t>
            </a:r>
            <a:r>
              <a:rPr lang="ru-RU" sz="1800" b="1" dirty="0"/>
              <a:t> Тип данных</a:t>
            </a:r>
            <a:r>
              <a:rPr lang="ru-RU" sz="1800" dirty="0"/>
              <a:t> — одинаковый для всех переменных в группе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1800" b="1" dirty="0"/>
              <a:t> Адреса</a:t>
            </a:r>
            <a:r>
              <a:rPr lang="ru-RU" sz="1800" dirty="0"/>
              <a:t> — последовательные без разрывов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1800" b="1" dirty="0"/>
              <a:t> Функции</a:t>
            </a:r>
            <a:r>
              <a:rPr lang="ru-RU" sz="1800" dirty="0"/>
              <a:t> — одинаковые операции чтения/записи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1800" b="1" dirty="0"/>
              <a:t> Условия</a:t>
            </a:r>
            <a:r>
              <a:rPr lang="ru-RU" sz="1800" dirty="0"/>
              <a:t> — совпадающие периоды или команды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1800" b="1" dirty="0"/>
              <a:t>⚙️ Команды</a:t>
            </a:r>
            <a:r>
              <a:rPr lang="ru-RU" sz="1800" dirty="0"/>
              <a:t> — одна командная переменная на группу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4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081" y="-18288"/>
            <a:ext cx="7741920" cy="622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4813"/>
            <a:ext cx="6436591" cy="1311128"/>
          </a:xfrm>
        </p:spPr>
        <p:txBody>
          <a:bodyPr rtlCol="0"/>
          <a:lstStyle/>
          <a:p>
            <a:r>
              <a:rPr lang="ru-RU" sz="2800" dirty="0"/>
              <a:t>Ограничения протоколов</a:t>
            </a:r>
            <a:br>
              <a:rPr lang="ru-RU" sz="2800" dirty="0"/>
            </a:br>
            <a:r>
              <a:rPr lang="ru-RU" sz="2800" dirty="0" err="1"/>
              <a:t>Modbus</a:t>
            </a:r>
            <a:r>
              <a:rPr lang="ru-RU" sz="2800" dirty="0"/>
              <a:t> RTU и ASCII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6" name="Таблица 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108842"/>
              </p:ext>
            </p:extLst>
          </p:nvPr>
        </p:nvGraphicFramePr>
        <p:xfrm>
          <a:off x="444500" y="1373593"/>
          <a:ext cx="4287521" cy="3706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818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1189509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1792194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</a:tblGrid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1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Протокол</a:t>
                      </a:r>
                      <a:endParaRPr lang="ru-RU" sz="24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  <a:endParaRPr lang="ru-RU" sz="24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Макс. регистров</a:t>
                      </a:r>
                      <a:endParaRPr lang="ru-RU" sz="24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24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  <a:endParaRPr lang="ru-RU" sz="2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5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659" y="1337960"/>
            <a:ext cx="7157341" cy="370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31393"/>
            <a:ext cx="7781544" cy="1344558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Пример формирования групповых запросов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069874"/>
            <a:ext cx="8912514" cy="478708"/>
          </a:xfrm>
        </p:spPr>
        <p:txBody>
          <a:bodyPr rtlCol="0">
            <a:normAutofit/>
          </a:bodyPr>
          <a:lstStyle/>
          <a:p>
            <a:r>
              <a:rPr lang="ru-RU" sz="2000" b="1" dirty="0"/>
              <a:t>Ограничение:</a:t>
            </a:r>
            <a:r>
              <a:rPr lang="ru-RU" sz="2000" dirty="0"/>
              <a:t> макс. 16 регистров в запросе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6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95804"/>
              </p:ext>
            </p:extLst>
          </p:nvPr>
        </p:nvGraphicFramePr>
        <p:xfrm>
          <a:off x="831850" y="2734136"/>
          <a:ext cx="7292339" cy="285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590">
                  <a:extLst>
                    <a:ext uri="{9D8B030D-6E8A-4147-A177-3AD203B41FA5}">
                      <a16:colId xmlns:a16="http://schemas.microsoft.com/office/drawing/2014/main" val="3944765084"/>
                    </a:ext>
                  </a:extLst>
                </a:gridCol>
                <a:gridCol w="1048512">
                  <a:extLst>
                    <a:ext uri="{9D8B030D-6E8A-4147-A177-3AD203B41FA5}">
                      <a16:colId xmlns:a16="http://schemas.microsoft.com/office/drawing/2014/main" val="1772016883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709980641"/>
                    </a:ext>
                  </a:extLst>
                </a:gridCol>
                <a:gridCol w="981456">
                  <a:extLst>
                    <a:ext uri="{9D8B030D-6E8A-4147-A177-3AD203B41FA5}">
                      <a16:colId xmlns:a16="http://schemas.microsoft.com/office/drawing/2014/main" val="1002917715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7375749"/>
                    </a:ext>
                  </a:extLst>
                </a:gridCol>
                <a:gridCol w="2119629">
                  <a:extLst>
                    <a:ext uri="{9D8B030D-6E8A-4147-A177-3AD203B41FA5}">
                      <a16:colId xmlns:a16="http://schemas.microsoft.com/office/drawing/2014/main" val="2992380017"/>
                    </a:ext>
                  </a:extLst>
                </a:gridCol>
              </a:tblGrid>
              <a:tr h="67899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Переменная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переменной 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команде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7321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Var-1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808285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Var-2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501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8963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Var-3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0х04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600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93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542925"/>
            <a:ext cx="6888480" cy="535531"/>
          </a:xfrm>
        </p:spPr>
        <p:txBody>
          <a:bodyPr rtlCol="0"/>
          <a:lstStyle/>
          <a:p>
            <a:r>
              <a:rPr lang="ru-RU" dirty="0"/>
              <a:t>Алгоритм формирования запросов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7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18560"/>
            <a:ext cx="10783359" cy="3170247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146304" y="1415375"/>
            <a:ext cx="6079006" cy="2228547"/>
          </a:xfrm>
        </p:spPr>
        <p:txBody>
          <a:bodyPr rtlCol="0">
            <a:noAutofit/>
          </a:bodyPr>
          <a:lstStyle/>
          <a:p>
            <a:r>
              <a:rPr lang="ru-RU" sz="2000" b="1" dirty="0">
                <a:solidFill>
                  <a:srgbClr val="00B050"/>
                </a:solidFill>
              </a:rPr>
              <a:t>✅</a:t>
            </a:r>
            <a:r>
              <a:rPr lang="ru-RU" sz="2000" b="1" dirty="0"/>
              <a:t> Var-1 + Var-2 = Группировка возможна:</a:t>
            </a:r>
            <a:endParaRPr lang="ru-RU" sz="2000" dirty="0"/>
          </a:p>
          <a:p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2000" dirty="0"/>
              <a:t> Адреса идут подряд (500→501)</a:t>
            </a:r>
          </a:p>
          <a:p>
            <a:r>
              <a:rPr lang="ru-RU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2000" dirty="0"/>
              <a:t> Одинаковая функция 0x03</a:t>
            </a:r>
          </a:p>
          <a:p>
            <a:r>
              <a:rPr lang="ru-RU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2000" dirty="0"/>
              <a:t> Одинаковый период 100 </a:t>
            </a:r>
            <a:r>
              <a:rPr lang="ru-RU" sz="2000" dirty="0" err="1"/>
              <a:t>мс</a:t>
            </a:r>
            <a:endParaRPr lang="ru-RU" sz="2000" dirty="0"/>
          </a:p>
          <a:p>
            <a:r>
              <a:rPr lang="ru-RU" sz="2000" b="1" dirty="0"/>
              <a:t>⚙</a:t>
            </a:r>
            <a:r>
              <a:rPr lang="ru-RU" sz="2000" dirty="0"/>
              <a:t> Одинаковая командная переменная </a:t>
            </a:r>
            <a:r>
              <a:rPr lang="ru-RU" sz="2000" b="1" dirty="0"/>
              <a:t>⚙</a:t>
            </a:r>
            <a:endParaRPr lang="ru-RU" sz="2000" dirty="0"/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366805" y="1480945"/>
            <a:ext cx="5291795" cy="2162977"/>
          </a:xfrm>
        </p:spPr>
        <p:txBody>
          <a:bodyPr rtlCol="0">
            <a:normAutofit/>
          </a:bodyPr>
          <a:lstStyle/>
          <a:p>
            <a:r>
              <a:rPr lang="ru-RU" sz="2000" b="1" dirty="0">
                <a:solidFill>
                  <a:srgbClr val="FF0000"/>
                </a:solidFill>
              </a:rPr>
              <a:t>❌</a:t>
            </a:r>
            <a:r>
              <a:rPr lang="ru-RU" sz="2000" b="1" dirty="0"/>
              <a:t> Var-3 = Индивидуальные запросы:</a:t>
            </a:r>
            <a:endParaRPr lang="ru-RU" sz="2000" dirty="0"/>
          </a:p>
          <a:p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2000" dirty="0"/>
              <a:t> Разрыв адресов (501→506)</a:t>
            </a:r>
          </a:p>
          <a:p>
            <a:r>
              <a:rPr lang="ru-RU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2000" dirty="0"/>
              <a:t> Разная функция 0x04</a:t>
            </a:r>
          </a:p>
          <a:p>
            <a:r>
              <a:rPr lang="ru-RU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2000" dirty="0"/>
              <a:t> Разный период 50 </a:t>
            </a:r>
            <a:r>
              <a:rPr lang="ru-RU" sz="2000" dirty="0" err="1"/>
              <a:t>мс</a:t>
            </a:r>
            <a:endParaRPr lang="ru-RU" sz="2000" dirty="0"/>
          </a:p>
          <a:p>
            <a:r>
              <a:rPr lang="ru-RU" sz="2000" b="1" dirty="0"/>
              <a:t>⚙</a:t>
            </a:r>
            <a:r>
              <a:rPr lang="ru-RU" sz="2000" dirty="0"/>
              <a:t> Разная командная переменная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 rtlCol="0"/>
          <a:lstStyle/>
          <a:p>
            <a:r>
              <a:rPr lang="ru-RU" dirty="0"/>
              <a:t>Результаты и эффективность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8" name="Диаграмма 6" title="Gross Revenue Placeholder Chart">
            <a:extLst>
              <a:ext uri="{FF2B5EF4-FFF2-40B4-BE49-F238E27FC236}">
                <a16:creationId xmlns:a16="http://schemas.microsoft.com/office/drawing/2014/main" id="{CDBB16C9-AACC-4C56-B938-95BF62DDEA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856010"/>
              </p:ext>
            </p:extLst>
          </p:nvPr>
        </p:nvGraphicFramePr>
        <p:xfrm>
          <a:off x="444500" y="1521654"/>
          <a:ext cx="6888988" cy="4373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8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70648" y="1521654"/>
            <a:ext cx="45811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E9516"/>
                </a:solidFill>
                <a:latin typeface="Arial (Основной текст)"/>
              </a:rPr>
              <a:t>📊</a:t>
            </a:r>
            <a:r>
              <a:rPr lang="ru-RU" sz="2400" b="1" dirty="0">
                <a:solidFill>
                  <a:srgbClr val="F9FAFB"/>
                </a:solidFill>
                <a:latin typeface="Arial (Основной текст)"/>
              </a:rPr>
              <a:t> Эффективность:</a:t>
            </a:r>
          </a:p>
          <a:p>
            <a:endParaRPr lang="ru-RU" sz="2400" dirty="0">
              <a:solidFill>
                <a:srgbClr val="F9FAFB"/>
              </a:solidFill>
              <a:latin typeface="Arial (Основной текст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9FAFB"/>
                </a:solidFill>
                <a:latin typeface="Arial (Основной текст)"/>
              </a:rPr>
              <a:t>Снижение количества запросов на </a:t>
            </a:r>
            <a:r>
              <a:rPr lang="ru-RU" sz="2400" b="1" dirty="0">
                <a:solidFill>
                  <a:srgbClr val="F9FAFB"/>
                </a:solidFill>
                <a:latin typeface="Arial (Основной текст)"/>
              </a:rPr>
              <a:t>33%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F9FAFB"/>
              </a:solidFill>
              <a:latin typeface="Arial (Основной текст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9FAFB"/>
                </a:solidFill>
                <a:latin typeface="Arial (Основной текст)"/>
              </a:rPr>
              <a:t>Оптимизация сетевой нагрузки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F9FAFB"/>
              </a:solidFill>
              <a:latin typeface="Arial (Основной текст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9FAFB"/>
                </a:solidFill>
                <a:latin typeface="Arial (Основной текст)"/>
              </a:rPr>
              <a:t>Повышение производительности системы</a:t>
            </a:r>
            <a:endParaRPr lang="ru-RU" sz="2400" b="0" i="0" dirty="0">
              <a:solidFill>
                <a:srgbClr val="F9FAFB"/>
              </a:solidFill>
              <a:effectLst/>
              <a:latin typeface="Arial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 rtlCol="0"/>
          <a:lstStyle/>
          <a:p>
            <a:r>
              <a:rPr lang="ru-RU" dirty="0"/>
              <a:t>ПРОЦЕСС РАЗРАБОТКИ</a:t>
            </a:r>
            <a:br>
              <a:rPr lang="ru-RU" dirty="0"/>
            </a:b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9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58036"/>
            <a:ext cx="7370064" cy="483218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876903" y="1421428"/>
            <a:ext cx="44492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b="1" dirty="0">
                <a:solidFill>
                  <a:srgbClr val="F9FAFB"/>
                </a:solidFill>
                <a:latin typeface="Arial (Основной текст)"/>
              </a:rPr>
              <a:t> </a:t>
            </a:r>
            <a:r>
              <a:rPr lang="ru-RU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📝</a:t>
            </a:r>
            <a:r>
              <a:rPr lang="ru-RU" sz="1200" b="1" dirty="0">
                <a:solidFill>
                  <a:srgbClr val="F9FAFB"/>
                </a:solidFill>
                <a:latin typeface="Arial (Основной текст)"/>
              </a:rPr>
              <a:t>АНАЛИТИКА (6 задач)</a:t>
            </a:r>
            <a:endParaRPr lang="ru-RU" sz="1200" dirty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Согласование требований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Максимальное кол-во регистров в запросе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Доработка шаблонов КС1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Тех. описание в Справке и РП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Корректировка макс. кол-во регистров в документации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Корректировка макс. кол-во регистров в справке и в РП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F9FAFB"/>
              </a:solidFill>
              <a:latin typeface="Arial (Основной текст)"/>
            </a:endParaRPr>
          </a:p>
          <a:p>
            <a:pPr algn="just"/>
            <a:r>
              <a:rPr lang="ru-RU" sz="1200" b="1" dirty="0">
                <a:solidFill>
                  <a:schemeClr val="bg1"/>
                </a:solidFill>
                <a:latin typeface="Arial (Основной текст)"/>
              </a:rPr>
              <a:t>⚙</a:t>
            </a:r>
            <a:r>
              <a:rPr lang="ru-RU" sz="1200" b="1" dirty="0">
                <a:solidFill>
                  <a:srgbClr val="F9FAFB"/>
                </a:solidFill>
                <a:latin typeface="Arial (Основной текст)"/>
              </a:rPr>
              <a:t> РАЗРАБОТКА (9 задач)</a:t>
            </a:r>
            <a:endParaRPr lang="ru-RU" sz="1200" dirty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Добавить визуальные элементы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Сохранять значения UI при закрытии проекта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Привязка UI к бизнес-логике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Сохранение/восстановление значений UI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Передача параметров прибору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Передача совмещенных запросов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Открытие шаблонов КС1/КС2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Ограничение на ввод регистров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Изменение порядка анализаторов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Тестирование Групповой опрос КС1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F9FAFB"/>
              </a:solidFill>
              <a:latin typeface="Arial (Основной текст)"/>
            </a:endParaRPr>
          </a:p>
          <a:p>
            <a:pPr algn="just"/>
            <a:r>
              <a:rPr lang="ru-RU" sz="1200" b="1" dirty="0">
                <a:solidFill>
                  <a:srgbClr val="92D050"/>
                </a:solidFill>
                <a:latin typeface="Arial (Основной текст)"/>
              </a:rPr>
              <a:t>🐛</a:t>
            </a:r>
            <a:r>
              <a:rPr lang="ru-RU" sz="1200" b="1" dirty="0">
                <a:solidFill>
                  <a:srgbClr val="F9FAFB"/>
                </a:solidFill>
                <a:latin typeface="Arial (Основной текст)"/>
              </a:rPr>
              <a:t> ИСПРАВЛЕНИЕ ДЕФЕКТОВ (5 задач)</a:t>
            </a:r>
            <a:endParaRPr lang="ru-RU" sz="1200" dirty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Некорректное число регистров в старых проектах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Ограничения для протокола ASCII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Проблемы с шаблонами старых версий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F9FAFB"/>
                </a:solidFill>
                <a:latin typeface="Arial (Основной текст)"/>
              </a:rPr>
              <a:t>Некорректные данные в ПР200</a:t>
            </a:r>
            <a:endParaRPr lang="ru-RU" sz="1200" b="0" i="0" dirty="0">
              <a:solidFill>
                <a:srgbClr val="F9FAFB"/>
              </a:solidFill>
              <a:effectLst/>
              <a:latin typeface="Arial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0" y="983379"/>
            <a:ext cx="4693920" cy="808845"/>
          </a:xfrm>
        </p:spPr>
        <p:txBody>
          <a:bodyPr rtlCol="0"/>
          <a:lstStyle/>
          <a:p>
            <a:r>
              <a:rPr lang="ru-RU" sz="4400" dirty="0"/>
              <a:t>ТЕСТИРОВАНИЕ 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715760" y="2625344"/>
            <a:ext cx="547624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B050"/>
                </a:solidFill>
                <a:latin typeface="Arial (Основной текст)"/>
              </a:rPr>
              <a:t>⚡</a:t>
            </a:r>
            <a:r>
              <a:rPr lang="ru-RU" sz="2000" b="1" dirty="0">
                <a:solidFill>
                  <a:srgbClr val="F9FAFB"/>
                </a:solidFill>
                <a:latin typeface="Arial (Основной текст)"/>
              </a:rPr>
              <a:t> Комплексное тестирование</a:t>
            </a:r>
          </a:p>
          <a:p>
            <a:r>
              <a:rPr lang="ru-RU" sz="2000" b="1" dirty="0">
                <a:solidFill>
                  <a:srgbClr val="F9FAFB"/>
                </a:solidFill>
                <a:latin typeface="Arial (Основной текст)"/>
              </a:rPr>
              <a:t>7 тест-кейсов:</a:t>
            </a:r>
            <a:endParaRPr lang="ru-RU" sz="2000" dirty="0">
              <a:solidFill>
                <a:srgbClr val="F9FAFB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OL-T27: </a:t>
            </a:r>
            <a:r>
              <a:rPr lang="ru-RU" sz="2000" dirty="0" err="1">
                <a:solidFill>
                  <a:srgbClr val="F9FAFB"/>
                </a:solidFill>
                <a:latin typeface="Arial (Основной текст)"/>
              </a:rPr>
              <a:t>Валидация</a:t>
            </a: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 настроек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OL-T28: Проверка условий группировки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OL-T29: Вариации групп переменных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OL-T30: Статус операций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OL-T31: Редактирование переменных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OL-T32: Работа с шаблонами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OL-T33: Отключение группировки </a:t>
            </a:r>
            <a:r>
              <a:rPr lang="ru-RU" sz="2000" dirty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9814"/>
            <a:ext cx="5376672" cy="25381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76672" cy="43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/>
              <a:t>Основные результаты</a:t>
            </a:r>
          </a:p>
        </p:txBody>
      </p:sp>
      <p:sp>
        <p:nvSpPr>
          <p:cNvPr id="8" name="Надпись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132932" y="1648736"/>
            <a:ext cx="993832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Изучены особенности протоколов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 RTU/ASCII и среды </a:t>
            </a:r>
            <a:r>
              <a:rPr lang="ru-RU" sz="2200" dirty="0" err="1">
                <a:solidFill>
                  <a:schemeClr val="bg1"/>
                </a:solidFill>
              </a:rPr>
              <a:t>Owen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ru-RU" sz="2200" dirty="0" err="1">
                <a:solidFill>
                  <a:schemeClr val="bg1"/>
                </a:solidFill>
              </a:rPr>
              <a:t>Logic</a:t>
            </a:r>
            <a:r>
              <a:rPr lang="ru-RU" sz="2200" dirty="0">
                <a:solidFill>
                  <a:schemeClr val="bg1"/>
                </a:solidFill>
              </a:rPr>
              <a:t>, что позволило определить требования к группировке переменных: совпадение типа данных, адреса устройства, функций чтения/записи и условий опроса.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Разработан модуль, поддерживающий два режима работы: оптимизированный (с автоматической группировкой запросов для максимальной производительности) и прямой (для детального управления отдельными переменными).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Проведено тестирование модуля, подтвердившее корректность группировки переменных и строгое соблюдение ограничений протокола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11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821" y="3330535"/>
            <a:ext cx="1411180" cy="11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992231-163D-4428-A2B8-DA1FE0274129}">
  <ds:schemaRefs>
    <ds:schemaRef ds:uri="http://purl.org/dc/terms/"/>
    <ds:schemaRef ds:uri="6dc4bcd6-49db-4c07-9060-8acfc67cef9f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fb0879af-3eba-417a-a55a-ffe6dcd6ca77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0</TotalTime>
  <Words>648</Words>
  <Application>Microsoft Office PowerPoint</Application>
  <PresentationFormat>Широкоэкранный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Arial (Основной текст)</vt:lpstr>
      <vt:lpstr>Calibri</vt:lpstr>
      <vt:lpstr>Trade Gothic LT Pro</vt:lpstr>
      <vt:lpstr>Trebuchet MS</vt:lpstr>
      <vt:lpstr>Тема Office</vt:lpstr>
      <vt:lpstr>Разработка модуля обработки групповых запросов Modbus в среде Owen Logic </vt:lpstr>
      <vt:lpstr>Проблема неэффективного опроса устройств  Последовательный опрос переменных приводит к значительным издержкам и ограничивает производительность системы КС1.</vt:lpstr>
      <vt:lpstr>Цели и задачи работы</vt:lpstr>
      <vt:lpstr>Ключевые условия группировки запросов</vt:lpstr>
      <vt:lpstr>Ограничения протоколов Modbus RTU и ASCII </vt:lpstr>
      <vt:lpstr>Пример формирования групповых запросов</vt:lpstr>
      <vt:lpstr>Алгоритм формирования запросов</vt:lpstr>
      <vt:lpstr>Результаты и эффективность </vt:lpstr>
      <vt:lpstr>ПРОЦЕСС РАЗРАБОТКИ </vt:lpstr>
      <vt:lpstr>ТЕСТИРОВАНИЕ </vt:lpstr>
      <vt:lpstr>Основные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2025-11-29T16:02:20Z</dcterms:created>
  <dcterms:modified xsi:type="dcterms:W3CDTF">2025-12-01T12:54:58Z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